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3.svg" ContentType="image/svg+xml"/>
  <Override PartName="/ppt/media/image-1002-2.svg" ContentType="image/svg+xml"/>
  <Override PartName="/ppt/media/image-1002-4.svg" ContentType="image/svg+xml"/>
  <Override PartName="/ppt/media/image-1003-2.svg" ContentType="image/svg+xml"/>
  <Override PartName="/ppt/media/image-1003-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8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8" Type="http://schemas.openxmlformats.org/officeDocument/2006/relationships/notesMaster" Target="notesMasters/notesMaster1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• Welcome the room at 09:00 and introduce yourself in 30 seconds.
</a:t>
            </a:r>
          </a:p>
          <a:p>
            <a:r>
              <a:rPr lang="en-US" sz="1600" b="1" dirty="0"/>
              <a:t>• Say: </a:t>
            </a:r>
            <a:r>
              <a:rPr lang="en-US" sz="1600" dirty="0"/>
              <a:t>"Two days, one case, eight steps."
</a:t>
            </a:r>
          </a:p>
          <a:p>
            <a:r>
              <a:rPr lang="en-US" sz="1600" b="1" dirty="0"/>
              <a:t>• Say: </a:t>
            </a:r>
            <a:r>
              <a:rPr lang="en-US" sz="1600" dirty="0"/>
              <a:t>"Today is steps 1 to 4, finding the real problem."
</a:t>
            </a:r>
          </a:p>
          <a:p>
            <a:r>
              <a:rPr lang="en-US" sz="1600" dirty="0"/>
              <a:t>• Breaks are at 10:30, at 12:00 for prayer and lunch, and at 14:00.
</a:t>
            </a:r>
          </a:p>
          <a:p>
            <a:r>
              <a:rPr lang="en-US" sz="1600" dirty="0"/>
              <a:t>• The day finishes at 15:30, and phones stay face down during activities.
</a:t>
            </a:r>
          </a:p>
          <a:p>
            <a:r>
              <a:rPr lang="en-US" sz="1600" dirty="0"/>
              <a:t>• Teams of four or five are already set on the tables.
</a:t>
            </a:r>
          </a:p>
          <a:p>
            <a:endParaRPr lang="en-US" dirty="0"/>
          </a:p>
          <a:p>
            <a:pPr algn="r" rtl="1"/>
            <a:r>
              <a:rPr lang="ar-SA" altLang="en-US" sz="1600" b="1" dirty="0">
                <a:cs typeface="Arial"/>
              </a:rPr>
              <a:t>من التراث — شعر
</a:t>
            </a:r>
          </a:p>
          <a:p>
            <a:pPr algn="r" rtl="1"/>
            <a:r>
              <a:rPr lang="ar-SA" altLang="en-US" sz="1600" dirty="0">
                <a:cs typeface="Arial"/>
              </a:rPr>
              <a:t>قال المتنبي: "الرَّأْيُ قَبْلَ شَجَاعَةِ الشُّجْعَانِ ... هُوَ أَوَّلٌ وَهِيَ المَحَلُّ الثَّانِي".
</a:t>
            </a:r>
          </a:p>
          <a:p>
            <a:pPr algn="r" rtl="1"/>
            <a:r>
              <a:rPr lang="ar-SA" altLang="en-US" sz="1600" dirty="0">
                <a:cs typeface="Arial"/>
              </a:rPr>
              <a:t>الدرس: التفكير يسبق الإقدام؛ هذان اليومان عن الرأي قبل الفعل.
</a:t>
            </a:r>
          </a:p>
          <a:p>
            <a:pPr algn="r" rtl="1"/>
            <a:r>
              <a:rPr lang="ar-SA" altLang="en-US" sz="1600" dirty="0">
                <a:cs typeface="Arial"/>
              </a:rPr>
              <a:t>المصدر: ديوان المتنبي، من قصيدة في مدح سيف الدولة؛ شرح ديوان المتنبي للواحدي ص315، https://shamela.ws/book/754/315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svg"/><Relationship Id="rId5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svg"/><Relationship Id="rId3" Type="http://schemas.openxmlformats.org/officeDocument/2006/relationships/image" Target="../media/image-1003-3.png"/><Relationship Id="rId4" Type="http://schemas.openxmlformats.org/officeDocument/2006/relationships/image" Target="../media/image-1003-4.svg"/><Relationship Id="rId5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L Day 1">
    <p:bg>
      <p:bgPr>
        <a:solidFill>
          <a:srgbClr val="F6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s/redesign/logo-academ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" y="6305550"/>
            <a:ext cx="361533" cy="381000"/>
          </a:xfrm>
          <a:prstGeom prst="rect">
            <a:avLst/>
          </a:prstGeom>
        </p:spPr>
      </p:pic>
      <p:pic>
        <p:nvPicPr>
          <p:cNvPr id="3" name="Image 1" descr="/home/claude/ps/redesign/logo-rayah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750" y="6362700"/>
            <a:ext cx="379788" cy="2667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76400" y="6391275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9275F"/>
                </a:solidFill>
                <a:latin typeface="itf Huwiya Arabic" pitchFamily="34" charset="0"/>
                <a:ea typeface="itf Huwiya Arabic" pitchFamily="34" charset="-122"/>
                <a:cs typeface="itf Huwiya Arabic" pitchFamily="34" charset="-120"/>
              </a:rPr>
              <a:t>Problem Solving — Day 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7100" y="6391275"/>
            <a:ext cx="571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25">
                <a:solidFill>
                  <a:srgbClr val="29275F"/>
                </a:solidFill>
                <a:latin typeface="itf Huwiya Arabic Med"/>
                <a:ea typeface="itf Huwiya Arabic Med"/>
                <a:cs typeface="itf Huwiya Arabic Me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L Day 2">
    <p:bg>
      <p:bgPr>
        <a:solidFill>
          <a:srgbClr val="F6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s/redesign/logo-academ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" y="6305550"/>
            <a:ext cx="361533" cy="381000"/>
          </a:xfrm>
          <a:prstGeom prst="rect">
            <a:avLst/>
          </a:prstGeom>
        </p:spPr>
      </p:pic>
      <p:pic>
        <p:nvPicPr>
          <p:cNvPr id="3" name="Image 1" descr="/home/claude/ps/redesign/logo-rayah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750" y="6362700"/>
            <a:ext cx="379788" cy="2667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76400" y="6391275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9275F"/>
                </a:solidFill>
                <a:latin typeface="itf Huwiya Arabic" pitchFamily="34" charset="0"/>
                <a:ea typeface="itf Huwiya Arabic" pitchFamily="34" charset="-122"/>
                <a:cs typeface="itf Huwiya Arabic" pitchFamily="34" charset="-120"/>
              </a:rPr>
              <a:t>Problem Solving — Day 2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7100" y="6391275"/>
            <a:ext cx="571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25">
                <a:solidFill>
                  <a:srgbClr val="29275F"/>
                </a:solidFill>
                <a:latin typeface="itf Huwiya Arabic Med"/>
                <a:ea typeface="itf Huwiya Arabic Med"/>
                <a:cs typeface="itf Huwiya Arabic Med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ADEM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7100" y="6391275"/>
            <a:ext cx="571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25">
                <a:solidFill>
                  <a:srgbClr val="29275F"/>
                </a:solidFill>
                <a:latin typeface="itf Huwiya Arabic Med"/>
                <a:ea typeface="itf Huwiya Arabic Med"/>
                <a:cs typeface="itf Huwiya Arabic Me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0" y="2266950"/>
            <a:ext cx="6324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30"/>
              </a:lnSpc>
              <a:buNone/>
            </a:pPr>
            <a:r>
              <a:rPr lang="en-US" sz="1500" dirty="0">
                <a:solidFill>
                  <a:srgbClr val="5E6178"/>
                </a:solidFill>
                <a:latin typeface="itf Huwiya Arabic" pitchFamily="34" charset="0"/>
                <a:ea typeface="itf Huwiya Arabic" pitchFamily="34" charset="-122"/>
                <a:cs typeface="itf Huwiya Arabic" pitchFamily="34" charset="-120"/>
              </a:rPr>
              <a:t>Day 1  —  Find the real problem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2628900"/>
            <a:ext cx="76581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4800"/>
              </a:lnSpc>
              <a:buNone/>
            </a:pPr>
            <a:r>
              <a:rPr lang="en-US" sz="4800" b="1" spc="-150" kern="0" dirty="0">
                <a:solidFill>
                  <a:srgbClr val="4F91CD"/>
                </a:solidFill>
                <a:latin typeface="itf Huwiya Arabic" pitchFamily="34" charset="0"/>
                <a:ea typeface="itf Huwiya Arabic" pitchFamily="34" charset="-122"/>
                <a:cs typeface="itf Huwiya Arabic" pitchFamily="34" charset="-120"/>
              </a:rPr>
              <a:t>Problem Solving</a:t>
            </a:r>
            <a:endParaRPr lang="en-US" sz="4800" dirty="0"/>
          </a:p>
        </p:txBody>
      </p:sp>
      <p:pic>
        <p:nvPicPr>
          <p:cNvPr id="4" name="Image 0" descr="/home/claude/ps/redesign/pptx/svg/art-001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6100" y="3505200"/>
            <a:ext cx="4762500" cy="152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0" y="379095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950" dirty="0">
                <a:solidFill>
                  <a:srgbClr val="4F91CD"/>
                </a:solidFill>
                <a:latin typeface="itf Huwiya Arabic" pitchFamily="34" charset="0"/>
                <a:ea typeface="itf Huwiya Arabic" pitchFamily="34" charset="-122"/>
                <a:cs typeface="itf Huwiya Arabic" pitchFamily="34" charset="-120"/>
              </a:rPr>
              <a:t>حل المشكلات</a:t>
            </a:r>
            <a:endParaRPr lang="en-US" sz="1950" dirty="0"/>
          </a:p>
        </p:txBody>
      </p:sp>
      <p:sp>
        <p:nvSpPr>
          <p:cNvPr id="6" name="Text 3"/>
          <p:cNvSpPr txBox="1"/>
          <p:nvPr/>
        </p:nvSpPr>
        <p:spPr>
          <a:xfrm>
            <a:off x="4038600" y="43053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275" dirty="0">
                <a:solidFill>
                  <a:srgbClr val="5E6178"/>
                </a:solidFill>
                <a:latin typeface="itf Huwiya Arabic" pitchFamily="34" charset="0"/>
                <a:ea typeface="itf Huwiya Arabic" pitchFamily="34" charset="-122"/>
                <a:cs typeface="itf Huwiya Arabic" pitchFamily="34" charset="-120"/>
              </a:rPr>
              <a:t>Rayah Graduate Development Programme  |  Foundation Camp</a:t>
            </a:r>
            <a:endParaRPr lang="en-US" sz="1275" dirty="0"/>
          </a:p>
          <a:p>
            <a:pPr algn="r" indent="0" marL="0">
              <a:lnSpc>
                <a:spcPts val="1470"/>
              </a:lnSpc>
              <a:buNone/>
            </a:pPr>
            <a:r>
              <a:rPr lang="en-US" sz="1275" dirty="0">
                <a:solidFill>
                  <a:srgbClr val="5E6178"/>
                </a:solidFill>
                <a:latin typeface="itf Huwiya Arabic" pitchFamily="34" charset="0"/>
                <a:ea typeface="itf Huwiya Arabic" pitchFamily="34" charset="-122"/>
                <a:cs typeface="itf Huwiya Arabic" pitchFamily="34" charset="-120"/>
              </a:rPr>
              <a:t>16 September 2026  |  The Financial Academy, Riyadh</a:t>
            </a:r>
            <a:endParaRPr lang="en-US" sz="1275" dirty="0"/>
          </a:p>
        </p:txBody>
      </p:sp>
      <p:pic>
        <p:nvPicPr>
          <p:cNvPr id="7" name="Picture 6" descr="qr_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4983480"/>
            <a:ext cx="1417320" cy="1417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tf Huwiya Arab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tf Huwiya Arab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</vt:vector>
  </TitlesOfParts>
  <Company>The Financial Academy — Rayah Graduate Development Programme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— Days 1 and 2</dc:title>
  <dc:subject>PptxGenJS Presentation</dc:subject>
  <dc:creator>Tawfiq Algargoush</dc:creator>
  <cp:lastModifiedBy>Tawfiq Algargoush</cp:lastModifiedBy>
  <cp:revision>1</cp:revision>
  <dcterms:created xsi:type="dcterms:W3CDTF">2026-09-17T09:45:46Z</dcterms:created>
  <dcterms:modified xsi:type="dcterms:W3CDTF">2026-09-17T09:45:46Z</dcterms:modified>
</cp:coreProperties>
</file>